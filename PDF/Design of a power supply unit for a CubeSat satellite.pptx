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0460" autoAdjust="0"/>
  </p:normalViewPr>
  <p:slideViewPr>
    <p:cSldViewPr snapToGrid="0">
      <p:cViewPr varScale="1">
        <p:scale>
          <a:sx n="78" d="100"/>
          <a:sy n="78" d="100"/>
        </p:scale>
        <p:origin x="18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7AAF3-888A-460A-95FE-98C4BEA8D34D}" type="datetimeFigureOut">
              <a:rPr lang="cs-CZ" smtClean="0"/>
              <a:t>27.04.2026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D8087-0E1D-4A2A-88EE-3A091F96094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90702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Dobrý den,</a:t>
            </a:r>
          </a:p>
          <a:p>
            <a:r>
              <a:rPr lang="cs-CZ" dirty="0"/>
              <a:t>Jmenuji se</a:t>
            </a:r>
          </a:p>
          <a:p>
            <a:r>
              <a:rPr lang="cs-CZ" dirty="0"/>
              <a:t>Chci </a:t>
            </a:r>
            <a:r>
              <a:rPr lang="cs-CZ" dirty="0" err="1"/>
              <a:t>vam</a:t>
            </a:r>
            <a:r>
              <a:rPr lang="cs-CZ" dirty="0"/>
              <a:t> představit moji diplomovou práci na téma návrhu napájecího modulu pro satelit typu </a:t>
            </a:r>
            <a:r>
              <a:rPr lang="cs-CZ" dirty="0" err="1"/>
              <a:t>cubesat</a:t>
            </a:r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D8087-0E1D-4A2A-88EE-3A091F96094C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3715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Začnu krátkým úvodem do problematiky</a:t>
            </a:r>
          </a:p>
          <a:p>
            <a:r>
              <a:rPr lang="cs-CZ" dirty="0"/>
              <a:t>Popíšu vám architekturu systému která byla zvolena</a:t>
            </a:r>
          </a:p>
          <a:p>
            <a:endParaRPr lang="cs-CZ" dirty="0"/>
          </a:p>
          <a:p>
            <a:r>
              <a:rPr lang="cs-CZ" dirty="0"/>
              <a:t>A jak tato architektura byla realizována v jednotlivých částí EPS modulu</a:t>
            </a:r>
          </a:p>
          <a:p>
            <a:endParaRPr lang="cs-CZ" dirty="0"/>
          </a:p>
          <a:p>
            <a:r>
              <a:rPr lang="cs-CZ" dirty="0"/>
              <a:t>A nakonec dosavadní výsledky a postup do budoucna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D8087-0E1D-4A2A-88EE-3A091F96094C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7324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napájecího modul je zdroj </a:t>
            </a:r>
            <a:r>
              <a:rPr lang="cs-CZ" dirty="0" err="1"/>
              <a:t>elektricke</a:t>
            </a:r>
            <a:r>
              <a:rPr lang="cs-CZ" dirty="0"/>
              <a:t> energie což dělá pomocí solárních panelů, skladovat tuto energii v bateriích a distribuovat ji do ostatních subsystémů satelitu</a:t>
            </a:r>
          </a:p>
          <a:p>
            <a:endParaRPr lang="cs-CZ" dirty="0"/>
          </a:p>
          <a:p>
            <a:r>
              <a:rPr lang="cs-CZ" dirty="0" err="1"/>
              <a:t>Cilem</a:t>
            </a:r>
            <a:r>
              <a:rPr lang="cs-CZ" dirty="0"/>
              <a:t> bylo navrhnout modulární napájecí modul se zvýšenou úrovní spolehlivosti pro použití na </a:t>
            </a:r>
            <a:r>
              <a:rPr lang="cs-CZ" dirty="0" err="1"/>
              <a:t>vyších</a:t>
            </a:r>
            <a:r>
              <a:rPr lang="cs-CZ" dirty="0"/>
              <a:t> </a:t>
            </a:r>
            <a:r>
              <a:rPr lang="cs-CZ" dirty="0" err="1"/>
              <a:t>orbitách</a:t>
            </a:r>
            <a:r>
              <a:rPr lang="cs-CZ" dirty="0"/>
              <a:t> kde je větší </a:t>
            </a:r>
            <a:r>
              <a:rPr lang="cs-CZ" dirty="0" err="1"/>
              <a:t>úrověň</a:t>
            </a:r>
            <a:r>
              <a:rPr lang="cs-CZ" dirty="0"/>
              <a:t> radiace</a:t>
            </a:r>
          </a:p>
          <a:p>
            <a:r>
              <a:rPr lang="cs-CZ" dirty="0"/>
              <a:t>k návrh použít volně dostupné komponenty</a:t>
            </a:r>
          </a:p>
          <a:p>
            <a:r>
              <a:rPr lang="cs-CZ" dirty="0"/>
              <a:t>Při návrhu se </a:t>
            </a:r>
            <a:r>
              <a:rPr lang="cs-CZ" dirty="0" err="1"/>
              <a:t>řídít</a:t>
            </a:r>
            <a:r>
              <a:rPr lang="cs-CZ" dirty="0"/>
              <a:t> požadavky </a:t>
            </a:r>
          </a:p>
          <a:p>
            <a:endParaRPr lang="cs-CZ" dirty="0"/>
          </a:p>
          <a:p>
            <a:r>
              <a:rPr lang="cs-CZ" dirty="0"/>
              <a:t>Navržená EPS má objem podle konfigurace mezi 1U a 2U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D8087-0E1D-4A2A-88EE-3A091F96094C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33507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Vesmírné prostředí se od pozemního liší způsoby odvodu tepla a radiací.</a:t>
            </a:r>
          </a:p>
          <a:p>
            <a:endParaRPr lang="cs-CZ" dirty="0"/>
          </a:p>
          <a:p>
            <a:r>
              <a:rPr lang="cs-CZ" dirty="0"/>
              <a:t>ve vakuu chybí odvod tepla konvekcí což jak je vidět na obrázku modelu chlazení součástky zvětší tepelný odpor a způsobí že odvod tepla je možný pouze radiací.</a:t>
            </a:r>
          </a:p>
          <a:p>
            <a:endParaRPr lang="cs-CZ" dirty="0"/>
          </a:p>
          <a:p>
            <a:r>
              <a:rPr lang="cs-CZ" dirty="0"/>
              <a:t>to stěžuje chlazení komponent ale </a:t>
            </a:r>
            <a:r>
              <a:rPr lang="cs-CZ" dirty="0" err="1"/>
              <a:t>zárověn</a:t>
            </a:r>
            <a:r>
              <a:rPr lang="cs-CZ" dirty="0"/>
              <a:t> vakuum funguje jako nekonečný pohlcovač tepla a komponenty mohou zmrznout. </a:t>
            </a:r>
          </a:p>
          <a:p>
            <a:r>
              <a:rPr lang="cs-CZ" dirty="0"/>
              <a:t>Teplota se tedy musí regulovat což je možné regulací kolik povrchu je v kontaktu se slunečním záření a nebo vnitřním vyhříváním.</a:t>
            </a:r>
          </a:p>
          <a:p>
            <a:endParaRPr lang="cs-CZ" dirty="0"/>
          </a:p>
          <a:p>
            <a:r>
              <a:rPr lang="cs-CZ" dirty="0"/>
              <a:t>Zvýšená radiace ve vesmíru také může poškodit elektrické součástky a chyby které radiace způsobuje se dělí na tři části. </a:t>
            </a:r>
          </a:p>
          <a:p>
            <a:r>
              <a:rPr lang="cs-CZ" dirty="0"/>
              <a:t>Single event </a:t>
            </a:r>
            <a:r>
              <a:rPr lang="cs-CZ" dirty="0" err="1"/>
              <a:t>upset</a:t>
            </a:r>
            <a:r>
              <a:rPr lang="cs-CZ" dirty="0"/>
              <a:t> je například když se vlivem radiace přehodí bit v paměti někdy je možná opravit například </a:t>
            </a:r>
            <a:r>
              <a:rPr lang="cs-CZ" dirty="0" err="1"/>
              <a:t>restatem</a:t>
            </a:r>
            <a:r>
              <a:rPr lang="cs-CZ" dirty="0"/>
              <a:t>. </a:t>
            </a:r>
          </a:p>
          <a:p>
            <a:r>
              <a:rPr lang="cs-CZ" dirty="0"/>
              <a:t>Single event </a:t>
            </a:r>
            <a:r>
              <a:rPr lang="cs-CZ" dirty="0" err="1"/>
              <a:t>transient</a:t>
            </a:r>
            <a:r>
              <a:rPr lang="cs-CZ" dirty="0"/>
              <a:t> tak jsou falešné signály způsobeny, ionizující záření může například na </a:t>
            </a:r>
            <a:r>
              <a:rPr lang="cs-CZ" dirty="0" err="1"/>
              <a:t>chvili</a:t>
            </a:r>
            <a:r>
              <a:rPr lang="cs-CZ" dirty="0"/>
              <a:t> otevřít jinak zavřený </a:t>
            </a:r>
            <a:r>
              <a:rPr lang="cs-CZ" dirty="0" err="1"/>
              <a:t>tranzisotr</a:t>
            </a:r>
            <a:r>
              <a:rPr lang="cs-CZ" dirty="0"/>
              <a:t>.</a:t>
            </a:r>
          </a:p>
          <a:p>
            <a:r>
              <a:rPr lang="cs-CZ" dirty="0" err="1"/>
              <a:t>Latch</a:t>
            </a:r>
            <a:r>
              <a:rPr lang="cs-CZ" dirty="0"/>
              <a:t> </a:t>
            </a:r>
            <a:r>
              <a:rPr lang="cs-CZ" dirty="0" err="1"/>
              <a:t>ups</a:t>
            </a:r>
            <a:r>
              <a:rPr lang="cs-CZ" dirty="0"/>
              <a:t> což jsou poškození hardwaru a způsobuji například zkrat v tranzistoru.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D8087-0E1D-4A2A-88EE-3A091F96094C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55674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EPS je teda rozdělena na individuální segmenty, kde každý plní svoji roli což dovoluje vyvíjet každou část samostatně.</a:t>
            </a:r>
          </a:p>
          <a:p>
            <a:endParaRPr lang="cs-CZ" dirty="0"/>
          </a:p>
          <a:p>
            <a:r>
              <a:rPr lang="cs-CZ" dirty="0"/>
              <a:t>EPS se většinou dělí na dvě </a:t>
            </a:r>
            <a:r>
              <a:rPr lang="cs-CZ" dirty="0" err="1"/>
              <a:t>hlaví</a:t>
            </a:r>
            <a:r>
              <a:rPr lang="cs-CZ" dirty="0"/>
              <a:t> architektury, centralizovanou a distribuovanou.</a:t>
            </a:r>
          </a:p>
          <a:p>
            <a:r>
              <a:rPr lang="cs-CZ" dirty="0"/>
              <a:t>U Centralizované architektury jsou měniče součástí EPS a stabilizovaným napětím napájí několik subsystémů zároveň</a:t>
            </a:r>
          </a:p>
          <a:p>
            <a:r>
              <a:rPr lang="cs-CZ" dirty="0"/>
              <a:t>V distribuované architektuře tak jsou měniče součástí subsystémů a EPS je napájí neregulovaným napětím.</a:t>
            </a:r>
          </a:p>
          <a:p>
            <a:endParaRPr lang="cs-CZ" dirty="0"/>
          </a:p>
          <a:p>
            <a:r>
              <a:rPr lang="cs-CZ" dirty="0"/>
              <a:t>Tato EPS používá prvky obou </a:t>
            </a:r>
            <a:r>
              <a:rPr lang="cs-CZ" dirty="0" err="1"/>
              <a:t>architektuch</a:t>
            </a:r>
            <a:r>
              <a:rPr lang="cs-CZ" dirty="0"/>
              <a:t>. Všechny komponenty jsou součástí samotné EPS jako v centralizované, ale každý subsystém má svůj vlastní izolovaný kanám jako v distribuované.</a:t>
            </a:r>
          </a:p>
          <a:p>
            <a:r>
              <a:rPr lang="cs-CZ" dirty="0"/>
              <a:t> </a:t>
            </a:r>
          </a:p>
          <a:p>
            <a:r>
              <a:rPr lang="cs-CZ" dirty="0"/>
              <a:t>K rozvodu energie uvnitř EPS je použit neregulovaný bus který kopíruje hladinu napětí baterií</a:t>
            </a:r>
          </a:p>
          <a:p>
            <a:r>
              <a:rPr lang="cs-CZ" dirty="0"/>
              <a:t>Ten je součástí signálového a výkonového busu který je zobrazený na obrázku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D8087-0E1D-4A2A-88EE-3A091F96094C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01306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První částí je vstup pro fotovoltaické panely</a:t>
            </a:r>
          </a:p>
          <a:p>
            <a:endParaRPr lang="cs-CZ" dirty="0"/>
          </a:p>
          <a:p>
            <a:r>
              <a:rPr lang="cs-CZ" dirty="0"/>
              <a:t>Ten obsahuje šest </a:t>
            </a:r>
            <a:r>
              <a:rPr lang="cs-CZ" dirty="0" err="1"/>
              <a:t>vztupů</a:t>
            </a:r>
            <a:r>
              <a:rPr lang="cs-CZ" dirty="0"/>
              <a:t> pro solární panely</a:t>
            </a:r>
          </a:p>
          <a:p>
            <a:r>
              <a:rPr lang="cs-CZ" dirty="0"/>
              <a:t>Každý z nich je nezávislý a obsahuje </a:t>
            </a:r>
          </a:p>
          <a:p>
            <a:r>
              <a:rPr lang="cs-CZ" dirty="0"/>
              <a:t>	solární nabíječku</a:t>
            </a:r>
          </a:p>
          <a:p>
            <a:r>
              <a:rPr lang="cs-CZ" dirty="0"/>
              <a:t>	dva switche pro její odpojení</a:t>
            </a:r>
          </a:p>
          <a:p>
            <a:r>
              <a:rPr lang="cs-CZ" dirty="0"/>
              <a:t>	měření proudu a napětí solárního panelu</a:t>
            </a:r>
          </a:p>
          <a:p>
            <a:endParaRPr lang="cs-CZ" dirty="0"/>
          </a:p>
          <a:p>
            <a:r>
              <a:rPr lang="cs-CZ" dirty="0"/>
              <a:t>Solární nabíječka sama o sobě pracuje ve fixním režimu </a:t>
            </a:r>
          </a:p>
          <a:p>
            <a:r>
              <a:rPr lang="cs-CZ" dirty="0"/>
              <a:t>A pomocí mikrokontroleru také v MPPT režimu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D8087-0E1D-4A2A-88EE-3A091F96094C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41551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Druhou částí jsou výstupní kanály</a:t>
            </a:r>
          </a:p>
          <a:p>
            <a:endParaRPr lang="cs-CZ" dirty="0"/>
          </a:p>
          <a:p>
            <a:r>
              <a:rPr lang="cs-CZ" dirty="0"/>
              <a:t>Ty se skládají ze dvou identickým Desek plošných spojů</a:t>
            </a:r>
          </a:p>
          <a:p>
            <a:endParaRPr lang="cs-CZ" dirty="0"/>
          </a:p>
          <a:p>
            <a:r>
              <a:rPr lang="cs-CZ" dirty="0"/>
              <a:t>Na každé desce jsou tři </a:t>
            </a:r>
            <a:r>
              <a:rPr lang="cs-CZ" dirty="0" err="1"/>
              <a:t>cold</a:t>
            </a:r>
            <a:r>
              <a:rPr lang="cs-CZ" dirty="0"/>
              <a:t> kanály což znamená že v případě chyby se kanál vypne a čeká na povel k zapnutí</a:t>
            </a:r>
          </a:p>
          <a:p>
            <a:r>
              <a:rPr lang="cs-CZ" dirty="0"/>
              <a:t>A jeden hot kanál který se při poruše automaticky přepne a zůstane zapnutý</a:t>
            </a:r>
          </a:p>
          <a:p>
            <a:endParaRPr lang="cs-CZ" dirty="0"/>
          </a:p>
          <a:p>
            <a:r>
              <a:rPr lang="cs-CZ" dirty="0"/>
              <a:t>Každý kanál obsahuje dva DC/DC měniče s nastavitelným výstupním napětím</a:t>
            </a:r>
          </a:p>
          <a:p>
            <a:r>
              <a:rPr lang="cs-CZ" dirty="0"/>
              <a:t>Dvěma </a:t>
            </a:r>
            <a:r>
              <a:rPr lang="cs-CZ" dirty="0" err="1"/>
              <a:t>swichema</a:t>
            </a:r>
            <a:endParaRPr lang="cs-CZ" dirty="0"/>
          </a:p>
          <a:p>
            <a:r>
              <a:rPr lang="cs-CZ" dirty="0"/>
              <a:t>A měřením napětí a proudu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D8087-0E1D-4A2A-88EE-3A091F96094C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854278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Jádro EPS obsahuje MCU které je tvořeno </a:t>
            </a:r>
            <a:r>
              <a:rPr lang="cs-CZ" dirty="0" err="1"/>
              <a:t>dvěmi</a:t>
            </a:r>
            <a:r>
              <a:rPr lang="cs-CZ" dirty="0"/>
              <a:t> MSP430 </a:t>
            </a:r>
            <a:r>
              <a:rPr lang="cs-CZ" dirty="0" err="1"/>
              <a:t>mikrokontroléry</a:t>
            </a:r>
            <a:r>
              <a:rPr lang="cs-CZ" dirty="0"/>
              <a:t>, </a:t>
            </a:r>
            <a:r>
              <a:rPr lang="cs-CZ" dirty="0" err="1"/>
              <a:t>dvěmi</a:t>
            </a:r>
            <a:r>
              <a:rPr lang="cs-CZ" dirty="0"/>
              <a:t> </a:t>
            </a:r>
            <a:r>
              <a:rPr lang="cs-CZ" dirty="0" err="1"/>
              <a:t>multipexerami</a:t>
            </a:r>
            <a:r>
              <a:rPr lang="cs-CZ" dirty="0"/>
              <a:t> a </a:t>
            </a:r>
            <a:r>
              <a:rPr lang="cs-CZ" dirty="0" err="1"/>
              <a:t>tranceivry</a:t>
            </a:r>
            <a:r>
              <a:rPr lang="cs-CZ" dirty="0"/>
              <a:t> pro komunikační sběrnice CAN a RS485</a:t>
            </a:r>
          </a:p>
          <a:p>
            <a:r>
              <a:rPr lang="cs-CZ" dirty="0"/>
              <a:t>SPI a UART jsou použity ke komunikaci s těmito transceivery a I2C pro komunikaci s </a:t>
            </a:r>
            <a:r>
              <a:rPr lang="cs-CZ" dirty="0" err="1"/>
              <a:t>Battery</a:t>
            </a:r>
            <a:r>
              <a:rPr lang="cs-CZ" dirty="0"/>
              <a:t> managment chipy které jsou u baterií</a:t>
            </a:r>
          </a:p>
          <a:p>
            <a:endParaRPr lang="cs-CZ" dirty="0"/>
          </a:p>
          <a:p>
            <a:r>
              <a:rPr lang="cs-CZ" dirty="0"/>
              <a:t>Součástí jádrového modulu jsou také dva výstupní kanály neregulovaného busu pro napájení například pohonu</a:t>
            </a:r>
          </a:p>
          <a:p>
            <a:endParaRPr lang="cs-CZ" dirty="0"/>
          </a:p>
          <a:p>
            <a:r>
              <a:rPr lang="cs-CZ" dirty="0"/>
              <a:t>A hlavní Switch přes který připojuje neregulovaný bus do zbytku EPS.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D8087-0E1D-4A2A-88EE-3A091F96094C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181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Poslední částí jsou </a:t>
            </a:r>
            <a:r>
              <a:rPr lang="cs-CZ" dirty="0" err="1"/>
              <a:t>batery</a:t>
            </a:r>
            <a:r>
              <a:rPr lang="cs-CZ" dirty="0"/>
              <a:t> packy</a:t>
            </a:r>
          </a:p>
          <a:p>
            <a:endParaRPr lang="cs-CZ" dirty="0"/>
          </a:p>
          <a:p>
            <a:r>
              <a:rPr lang="cs-CZ" dirty="0"/>
              <a:t>Každý obsahují mimo čtyř </a:t>
            </a:r>
            <a:r>
              <a:rPr lang="cs-CZ" dirty="0" err="1"/>
              <a:t>li</a:t>
            </a:r>
            <a:r>
              <a:rPr lang="cs-CZ" dirty="0"/>
              <a:t>-ion baterií v </a:t>
            </a:r>
            <a:r>
              <a:rPr lang="cs-CZ" dirty="0" err="1"/>
              <a:t>serii</a:t>
            </a:r>
            <a:r>
              <a:rPr lang="cs-CZ" dirty="0"/>
              <a:t> také </a:t>
            </a:r>
            <a:r>
              <a:rPr lang="cs-CZ" dirty="0" err="1"/>
              <a:t>Battery</a:t>
            </a:r>
            <a:r>
              <a:rPr lang="cs-CZ" dirty="0"/>
              <a:t> managment systém, který monitoruje jednotlivé články a má možnost vybalancovat jejich napětí v případě nutnosti</a:t>
            </a:r>
          </a:p>
          <a:p>
            <a:endParaRPr lang="cs-CZ" dirty="0"/>
          </a:p>
          <a:p>
            <a:r>
              <a:rPr lang="cs-CZ" dirty="0" err="1"/>
              <a:t>Batery</a:t>
            </a:r>
            <a:r>
              <a:rPr lang="cs-CZ" dirty="0"/>
              <a:t> </a:t>
            </a:r>
            <a:r>
              <a:rPr lang="cs-CZ" dirty="0" err="1"/>
              <a:t>pack</a:t>
            </a:r>
            <a:r>
              <a:rPr lang="cs-CZ" dirty="0"/>
              <a:t> také dovoluje monitorovat teplotu </a:t>
            </a:r>
            <a:r>
              <a:rPr lang="cs-CZ" dirty="0" err="1"/>
              <a:t>baterijí</a:t>
            </a:r>
            <a:r>
              <a:rPr lang="cs-CZ" dirty="0"/>
              <a:t> a možnost regulovat jejich teplotu pomocí ohřívače.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D8087-0E1D-4A2A-88EE-3A091F96094C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44501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err="1"/>
              <a:t>Doposuď</a:t>
            </a:r>
            <a:r>
              <a:rPr lang="cs-CZ" dirty="0"/>
              <a:t> byla vyrobena </a:t>
            </a:r>
            <a:r>
              <a:rPr lang="cs-CZ" dirty="0" err="1"/>
              <a:t>terstovací</a:t>
            </a:r>
            <a:r>
              <a:rPr lang="cs-CZ" dirty="0"/>
              <a:t> deska která simuluje zvolenou architekturu</a:t>
            </a:r>
          </a:p>
          <a:p>
            <a:r>
              <a:rPr lang="cs-CZ" dirty="0"/>
              <a:t>Jednotlivé části EPS byly na ní oživeny a ověřena jejich funkčnost.</a:t>
            </a:r>
          </a:p>
          <a:p>
            <a:endParaRPr lang="cs-CZ" dirty="0"/>
          </a:p>
          <a:p>
            <a:r>
              <a:rPr lang="cs-CZ" dirty="0"/>
              <a:t>Další kroky jsou podrobit tuto test desku radiačním testům</a:t>
            </a:r>
          </a:p>
          <a:p>
            <a:r>
              <a:rPr lang="cs-CZ" dirty="0"/>
              <a:t>Zpracovat výsledky a najít nejslabší část která je nejvíce citlivá na radiaci</a:t>
            </a:r>
          </a:p>
          <a:p>
            <a:r>
              <a:rPr lang="cs-CZ" dirty="0"/>
              <a:t>Základě testů upravit a </a:t>
            </a:r>
            <a:r>
              <a:rPr lang="cs-CZ" dirty="0" err="1"/>
              <a:t>zlepšít</a:t>
            </a:r>
            <a:r>
              <a:rPr lang="cs-CZ" dirty="0"/>
              <a:t> design.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D8087-0E1D-4A2A-88EE-3A091F96094C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93515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6A3BA7-88B8-1AFC-079D-D4D87E8BA7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B88ADBE-4C3B-2831-2E24-7F5E571DEB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8C13092-DA66-CCDF-4885-1E51972F5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5FBD3-9715-44E9-B44F-29EB26BB1773}" type="datetimeFigureOut">
              <a:rPr lang="cs-CZ" smtClean="0"/>
              <a:t>27.04.2026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226555A-6194-E0C7-E6ED-B242E60D8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F1C2430-0099-60DF-2ED0-3EDE5A1D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B5324-544D-4C2B-BB18-A418EE3D4B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4978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6AE3769-87AB-8756-BE60-73F2D4825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83B4C1D-4A73-B3A5-EFE9-DF2A7F4BD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974C0C5-76CB-5D62-899E-112BC30A1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5FBD3-9715-44E9-B44F-29EB26BB1773}" type="datetimeFigureOut">
              <a:rPr lang="cs-CZ" smtClean="0"/>
              <a:t>27.04.2026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EC5E93F-D585-9A4D-BC03-A99B18EF4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0E924F3-5E17-43F1-5E61-7EF918829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B5324-544D-4C2B-BB18-A418EE3D4B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0152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19DCC1E-54EA-D468-CCB1-BAD14418C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245FB64-3897-228E-82DE-0EB64AFAC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3FF273A-9B4D-2C16-E8F0-5091CEF1D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5FBD3-9715-44E9-B44F-29EB26BB1773}" type="datetimeFigureOut">
              <a:rPr lang="cs-CZ" smtClean="0"/>
              <a:t>27.04.2026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73EBBE5-94A3-EFB0-94DB-216F903B2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8B4B57A-5FBA-B44B-F4BF-11A96972B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B5324-544D-4C2B-BB18-A418EE3D4B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45834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251E37-7593-E10B-E11E-63A87D36C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E868143-26C8-361E-3339-F1972BA4F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8F467EE-D0DB-9C26-123C-FC22057CA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EEEC856-301B-53ED-EF4F-C555B5B0C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5FBD3-9715-44E9-B44F-29EB26BB1773}" type="datetimeFigureOut">
              <a:rPr lang="cs-CZ" smtClean="0"/>
              <a:t>27.04.2026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9721B09-6FF6-A0B4-74C2-650EA18D4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863B71D-C2EC-E411-6FBA-07FB382F3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B5324-544D-4C2B-BB18-A418EE3D4B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37526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7FFD9C0-AD8B-3A66-D56B-761B587B1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9A878C5-70FE-7539-E506-FCEF43377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407480A-595F-994B-8CB7-017345016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93AF2A6-FF1A-3F92-9A32-E85CE22B8A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5E9D0292-F43F-D588-67F0-1D2C589274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D158EB7-8DE6-814B-1EF3-061069FB4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5FBD3-9715-44E9-B44F-29EB26BB1773}" type="datetimeFigureOut">
              <a:rPr lang="cs-CZ" smtClean="0"/>
              <a:t>27.04.2026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90432895-1579-527D-846E-3BA044D23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44492FB2-AB53-13BD-F152-C7D058C8C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B5324-544D-4C2B-BB18-A418EE3D4B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56898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16874A-1BB8-452B-0A1A-373CB8A89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5A5AE831-4EDA-3342-ACD3-89041F94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5FBD3-9715-44E9-B44F-29EB26BB1773}" type="datetimeFigureOut">
              <a:rPr lang="cs-CZ" smtClean="0"/>
              <a:t>27.04.2026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A519D59-E523-36B0-E41B-60C7A5597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EF84B5D-72C3-3DD5-20D6-B6BA17230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B5324-544D-4C2B-BB18-A418EE3D4B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92052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EA6AB1D2-700D-65DF-083E-E6283591E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5FBD3-9715-44E9-B44F-29EB26BB1773}" type="datetimeFigureOut">
              <a:rPr lang="cs-CZ" smtClean="0"/>
              <a:t>27.04.2026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FF902693-671E-0B0C-00FF-FCCF27E4B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F85E0BA-1D22-5E8C-BDCA-9034309BE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B5324-544D-4C2B-BB18-A418EE3D4B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2741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5CBCD5-C95F-20ED-77EB-2867CB6ED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A653736-ED1B-7E5D-2DE5-CC89CF83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302697B-D804-9031-22BC-332AAC383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AD1DA6F-8F71-801D-5173-A833DD13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5FBD3-9715-44E9-B44F-29EB26BB1773}" type="datetimeFigureOut">
              <a:rPr lang="cs-CZ" smtClean="0"/>
              <a:t>27.04.2026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E93B4E7-ABDF-95CC-62AC-CA9D3D71B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31A162A-6AEF-CAA9-1A1B-FBE9A3376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B5324-544D-4C2B-BB18-A418EE3D4B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77926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E15C9FE-81A5-FDE1-0661-9838DCDF3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205000DF-9AFC-6BD7-26A7-07B978F071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FC55157-CE1E-0B8D-D635-24B69FF8A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9A96608-C02A-6CF0-3A51-4BD964C2E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5FBD3-9715-44E9-B44F-29EB26BB1773}" type="datetimeFigureOut">
              <a:rPr lang="cs-CZ" smtClean="0"/>
              <a:t>27.04.2026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680CCFF-8CC7-3943-60E5-5877B6B1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964558D-E591-C93A-C098-A1A3EC7E5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B5324-544D-4C2B-BB18-A418EE3D4B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94831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7EE279-4B0B-2DA8-8CF1-B278B8DC6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6AAEC9D5-53CC-EB37-93CE-164008865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4BBE466-B9E4-339F-CA3D-BD5D13BF7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5FBD3-9715-44E9-B44F-29EB26BB1773}" type="datetimeFigureOut">
              <a:rPr lang="cs-CZ" smtClean="0"/>
              <a:t>27.04.2026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8CD58C5-867B-CF5E-805A-CF91D3884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C45A3E2-D637-5DD9-28CB-B2E132F4C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B5324-544D-4C2B-BB18-A418EE3D4B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16688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AE59FBCE-9E6E-1A32-CFB8-64FA5EFE6E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9EDA0997-9C5D-7BF6-4130-0887DD676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C70209B-C075-0B24-5444-93A2C22D5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5FBD3-9715-44E9-B44F-29EB26BB1773}" type="datetimeFigureOut">
              <a:rPr lang="cs-CZ" smtClean="0"/>
              <a:t>27.04.2026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BCDFBD9-0D90-E387-A095-B329ADBD1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148F21D-461E-A85D-BB1A-FCE4594BD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B5324-544D-4C2B-BB18-A418EE3D4B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9754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DBE0D016-4EC5-3A51-547B-BC55EFA31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7D53981-F4D3-988F-AED5-9744C41F1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63C10FB-F7AA-6D98-4925-4909DA2BBB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D5FBD3-9715-44E9-B44F-29EB26BB1773}" type="datetimeFigureOut">
              <a:rPr lang="cs-CZ" smtClean="0"/>
              <a:t>27.04.2026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A101F76-B902-FAAC-7347-47763C11D5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CED3BE7-9B58-0D1E-B9A6-901B6CD85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0B5324-544D-4C2B-BB18-A418EE3D4B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02823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CA1A80-B5DC-50E6-8FF0-00E44BACBC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 algn="l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cs-CZ" altLang="cs-CZ" dirty="0">
                <a:latin typeface="Arial" panose="020B0604020202020204" pitchFamily="34" charset="0"/>
              </a:rPr>
              <a:t>Design </a:t>
            </a:r>
            <a:r>
              <a:rPr lang="cs-CZ" altLang="cs-CZ" dirty="0" err="1">
                <a:latin typeface="Arial" panose="020B0604020202020204" pitchFamily="34" charset="0"/>
              </a:rPr>
              <a:t>of</a:t>
            </a:r>
            <a:r>
              <a:rPr lang="cs-CZ" altLang="cs-CZ" dirty="0">
                <a:latin typeface="Arial" panose="020B0604020202020204" pitchFamily="34" charset="0"/>
              </a:rPr>
              <a:t> a </a:t>
            </a:r>
            <a:r>
              <a:rPr lang="cs-CZ" altLang="cs-CZ" dirty="0" err="1">
                <a:latin typeface="Arial" panose="020B0604020202020204" pitchFamily="34" charset="0"/>
              </a:rPr>
              <a:t>power</a:t>
            </a:r>
            <a:r>
              <a:rPr lang="cs-CZ" altLang="cs-CZ" dirty="0">
                <a:latin typeface="Arial" panose="020B0604020202020204" pitchFamily="34" charset="0"/>
              </a:rPr>
              <a:t> </a:t>
            </a:r>
            <a:r>
              <a:rPr lang="cs-CZ" altLang="cs-CZ" dirty="0" err="1">
                <a:latin typeface="Arial" panose="020B0604020202020204" pitchFamily="34" charset="0"/>
              </a:rPr>
              <a:t>supply</a:t>
            </a:r>
            <a:r>
              <a:rPr lang="cs-CZ" altLang="cs-CZ" dirty="0">
                <a:latin typeface="Arial" panose="020B0604020202020204" pitchFamily="34" charset="0"/>
              </a:rPr>
              <a:t> unit </a:t>
            </a:r>
            <a:r>
              <a:rPr lang="cs-CZ" altLang="cs-CZ" dirty="0" err="1">
                <a:latin typeface="Arial" panose="020B0604020202020204" pitchFamily="34" charset="0"/>
              </a:rPr>
              <a:t>for</a:t>
            </a:r>
            <a:r>
              <a:rPr lang="cs-CZ" altLang="cs-CZ" dirty="0">
                <a:latin typeface="Arial" panose="020B0604020202020204" pitchFamily="34" charset="0"/>
              </a:rPr>
              <a:t> a </a:t>
            </a:r>
            <a:r>
              <a:rPr lang="cs-CZ" altLang="cs-CZ" dirty="0" err="1">
                <a:latin typeface="Arial" panose="020B0604020202020204" pitchFamily="34" charset="0"/>
              </a:rPr>
              <a:t>CubeSat</a:t>
            </a:r>
            <a:r>
              <a:rPr lang="cs-CZ" altLang="cs-CZ" dirty="0">
                <a:latin typeface="Arial" panose="020B0604020202020204" pitchFamily="34" charset="0"/>
              </a:rPr>
              <a:t> </a:t>
            </a:r>
            <a:r>
              <a:rPr lang="cs-CZ" altLang="cs-CZ" dirty="0" err="1">
                <a:latin typeface="Arial" panose="020B0604020202020204" pitchFamily="34" charset="0"/>
              </a:rPr>
              <a:t>satellite</a:t>
            </a:r>
            <a:endParaRPr lang="cs-CZ" altLang="cs-CZ" dirty="0">
              <a:latin typeface="Arial" panose="020B0604020202020204" pitchFamily="34" charset="0"/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696F119-8F16-170E-CC8F-0E19361CDE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09744"/>
            <a:ext cx="9144000" cy="448056"/>
          </a:xfrm>
        </p:spPr>
        <p:txBody>
          <a:bodyPr/>
          <a:lstStyle/>
          <a:p>
            <a:r>
              <a:rPr lang="cs-CZ" dirty="0"/>
              <a:t>Bc. Dočkal Tomáš, Ing. Veverka Jiří</a:t>
            </a:r>
          </a:p>
        </p:txBody>
      </p:sp>
    </p:spTree>
    <p:extLst>
      <p:ext uri="{BB962C8B-B14F-4D97-AF65-F5344CB8AC3E}">
        <p14:creationId xmlns:p14="http://schemas.microsoft.com/office/powerpoint/2010/main" val="427487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A9B6ED-D293-F86A-6C4C-1DB98BDBE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Content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875A307-5E95-CC0D-3A3D-3400C1C5D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Introduction</a:t>
            </a:r>
            <a:endParaRPr lang="cs-CZ" dirty="0"/>
          </a:p>
          <a:p>
            <a:r>
              <a:rPr lang="cs-CZ" dirty="0" err="1"/>
              <a:t>Architecture</a:t>
            </a:r>
            <a:endParaRPr lang="cs-CZ" dirty="0"/>
          </a:p>
          <a:p>
            <a:r>
              <a:rPr lang="cs-CZ" dirty="0" err="1"/>
              <a:t>Photovoltaic</a:t>
            </a:r>
            <a:r>
              <a:rPr lang="cs-CZ" dirty="0"/>
              <a:t> input</a:t>
            </a:r>
          </a:p>
          <a:p>
            <a:r>
              <a:rPr lang="cs-CZ" dirty="0"/>
              <a:t>Output </a:t>
            </a:r>
            <a:r>
              <a:rPr lang="cs-CZ" dirty="0" err="1"/>
              <a:t>channels</a:t>
            </a:r>
            <a:endParaRPr lang="cs-CZ" dirty="0"/>
          </a:p>
          <a:p>
            <a:r>
              <a:rPr lang="cs-CZ" dirty="0" err="1"/>
              <a:t>Core</a:t>
            </a:r>
            <a:r>
              <a:rPr lang="cs-CZ" dirty="0"/>
              <a:t> module</a:t>
            </a:r>
          </a:p>
          <a:p>
            <a:r>
              <a:rPr lang="cs-CZ" dirty="0" err="1"/>
              <a:t>Power</a:t>
            </a:r>
            <a:r>
              <a:rPr lang="cs-CZ" dirty="0"/>
              <a:t> </a:t>
            </a:r>
            <a:r>
              <a:rPr lang="cs-CZ" dirty="0" err="1"/>
              <a:t>storage</a:t>
            </a:r>
            <a:endParaRPr lang="cs-CZ" dirty="0"/>
          </a:p>
          <a:p>
            <a:r>
              <a:rPr lang="cs-CZ" dirty="0" err="1"/>
              <a:t>Conclusion</a:t>
            </a:r>
            <a:endParaRPr lang="cs-CZ" dirty="0"/>
          </a:p>
          <a:p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F65A83FF-9527-8E53-564A-DF06C4A138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870" y="0"/>
            <a:ext cx="113778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534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497DEE-1123-842A-4F13-56DF91615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Introduction</a:t>
            </a:r>
            <a:endParaRPr lang="cs-CZ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8C7B5685-9646-821B-723F-45869ABB36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cs-CZ" dirty="0"/>
                  <a:t>Goal</a:t>
                </a:r>
              </a:p>
              <a:p>
                <a:pPr lvl="1"/>
                <a:r>
                  <a:rPr lang="cs-CZ" dirty="0" err="1"/>
                  <a:t>Designing</a:t>
                </a:r>
                <a:r>
                  <a:rPr lang="cs-CZ" dirty="0"/>
                  <a:t> </a:t>
                </a:r>
                <a:r>
                  <a:rPr lang="cs-CZ" dirty="0" err="1"/>
                  <a:t>modular</a:t>
                </a:r>
                <a:r>
                  <a:rPr lang="cs-CZ" dirty="0"/>
                  <a:t> </a:t>
                </a:r>
                <a:r>
                  <a:rPr lang="cs-CZ" dirty="0" err="1"/>
                  <a:t>eps</a:t>
                </a:r>
                <a:r>
                  <a:rPr lang="cs-CZ" dirty="0"/>
                  <a:t> </a:t>
                </a:r>
              </a:p>
              <a:p>
                <a:r>
                  <a:rPr lang="cs-CZ" dirty="0"/>
                  <a:t>Role </a:t>
                </a:r>
                <a:r>
                  <a:rPr lang="cs-CZ" dirty="0" err="1"/>
                  <a:t>of</a:t>
                </a:r>
                <a:r>
                  <a:rPr lang="cs-CZ" dirty="0"/>
                  <a:t> EPS</a:t>
                </a:r>
              </a:p>
              <a:p>
                <a:r>
                  <a:rPr lang="cs-CZ" dirty="0" err="1"/>
                  <a:t>Motivation</a:t>
                </a:r>
                <a:endParaRPr lang="cs-CZ" dirty="0"/>
              </a:p>
              <a:p>
                <a:pPr lvl="1"/>
                <a:r>
                  <a:rPr lang="cs-CZ" dirty="0" err="1"/>
                  <a:t>Enhanced</a:t>
                </a:r>
                <a:r>
                  <a:rPr lang="cs-CZ" dirty="0"/>
                  <a:t> reliability</a:t>
                </a:r>
              </a:p>
              <a:p>
                <a:pPr lvl="2"/>
                <a:r>
                  <a:rPr lang="cs-CZ" dirty="0" err="1"/>
                  <a:t>For</a:t>
                </a:r>
                <a:r>
                  <a:rPr lang="cs-CZ" dirty="0"/>
                  <a:t> use past LEO</a:t>
                </a:r>
              </a:p>
              <a:p>
                <a:pPr lvl="1"/>
                <a:r>
                  <a:rPr lang="cs-CZ" dirty="0"/>
                  <a:t>COTS </a:t>
                </a:r>
                <a:r>
                  <a:rPr lang="cs-CZ" dirty="0" err="1"/>
                  <a:t>components</a:t>
                </a:r>
                <a:endParaRPr lang="cs-CZ" dirty="0"/>
              </a:p>
              <a:p>
                <a:pPr lvl="1"/>
                <a:r>
                  <a:rPr lang="cs-CZ" dirty="0" err="1"/>
                  <a:t>Mission-specific</a:t>
                </a:r>
                <a:endParaRPr lang="cs-CZ" dirty="0"/>
              </a:p>
              <a:p>
                <a:r>
                  <a:rPr lang="cs-CZ" dirty="0"/>
                  <a:t>1U – 2U </a:t>
                </a:r>
                <a:r>
                  <a:rPr lang="cs-CZ" dirty="0" err="1"/>
                  <a:t>volume</a:t>
                </a:r>
                <a:r>
                  <a:rPr lang="cs-CZ" dirty="0"/>
                  <a:t> (</a:t>
                </a:r>
                <a14:m>
                  <m:oMath xmlns:m="http://schemas.openxmlformats.org/officeDocument/2006/math">
                    <m:r>
                      <a:rPr lang="cs-CZ" b="0" i="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cs-CZ" b="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cs-CZ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cs-CZ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cs-CZ" b="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cs-CZ" b="0" i="1" dirty="0" smtClean="0">
                            <a:latin typeface="Cambria Math" panose="02040503050406030204" pitchFamily="18" charset="0"/>
                          </a:rPr>
                          <m:t>𝑚𝑚</m:t>
                        </m:r>
                      </m:e>
                      <m:sup>
                        <m:r>
                          <a:rPr lang="cs-CZ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cs-CZ" dirty="0"/>
                  <a:t>)</a:t>
                </a:r>
              </a:p>
              <a:p>
                <a:endParaRPr lang="cs-CZ" dirty="0"/>
              </a:p>
              <a:p>
                <a:endParaRPr lang="cs-CZ" dirty="0"/>
              </a:p>
            </p:txBody>
          </p:sp>
        </mc:Choice>
        <mc:Fallback xmlns=""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8C7B5685-9646-821B-723F-45869ABB36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Obrázek 5">
            <a:extLst>
              <a:ext uri="{FF2B5EF4-FFF2-40B4-BE49-F238E27FC236}">
                <a16:creationId xmlns:a16="http://schemas.microsoft.com/office/drawing/2014/main" id="{FD133364-722A-2CA3-EAF8-8D19098E9A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870" y="0"/>
            <a:ext cx="113778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463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56E12B24-7793-4E5E-14CC-C720BA030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01" y="-16266"/>
            <a:ext cx="7518400" cy="6874266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3579C379-ECD2-9768-1E0E-F453F19DC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Design </a:t>
            </a:r>
            <a:r>
              <a:rPr lang="cs-CZ" dirty="0" err="1"/>
              <a:t>considerations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0363CE4-AB20-8E9B-6DCF-9F6558F0C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Space</a:t>
            </a:r>
            <a:r>
              <a:rPr lang="cs-CZ" dirty="0"/>
              <a:t> environment</a:t>
            </a:r>
          </a:p>
          <a:p>
            <a:r>
              <a:rPr lang="cs-CZ" dirty="0"/>
              <a:t>Heat </a:t>
            </a:r>
            <a:r>
              <a:rPr lang="cs-CZ" dirty="0" err="1"/>
              <a:t>dissipation</a:t>
            </a:r>
            <a:endParaRPr lang="cs-CZ" dirty="0"/>
          </a:p>
          <a:p>
            <a:pPr lvl="1"/>
            <a:r>
              <a:rPr lang="cs-CZ" dirty="0" err="1"/>
              <a:t>Convection</a:t>
            </a:r>
            <a:endParaRPr lang="cs-CZ" dirty="0"/>
          </a:p>
          <a:p>
            <a:pPr lvl="1"/>
            <a:r>
              <a:rPr lang="cs-CZ" dirty="0" err="1"/>
              <a:t>Radiation</a:t>
            </a:r>
            <a:endParaRPr lang="cs-CZ" dirty="0"/>
          </a:p>
          <a:p>
            <a:r>
              <a:rPr lang="cs-CZ" dirty="0" err="1"/>
              <a:t>Radiation</a:t>
            </a:r>
            <a:endParaRPr lang="cs-CZ" dirty="0"/>
          </a:p>
          <a:p>
            <a:pPr lvl="1"/>
            <a:r>
              <a:rPr lang="en-US" dirty="0"/>
              <a:t>Single event upset</a:t>
            </a:r>
            <a:endParaRPr lang="cs-CZ" dirty="0"/>
          </a:p>
          <a:p>
            <a:pPr lvl="1"/>
            <a:r>
              <a:rPr lang="en-US" dirty="0"/>
              <a:t>Single event transient</a:t>
            </a:r>
            <a:endParaRPr lang="cs-CZ" dirty="0"/>
          </a:p>
          <a:p>
            <a:pPr lvl="1"/>
            <a:r>
              <a:rPr lang="en-US" dirty="0"/>
              <a:t>Latch-up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11230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95BA7B5C-A85E-2D14-0821-AB3F7B0424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941" y="346075"/>
            <a:ext cx="6824472" cy="6289475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52BA0E21-E889-3481-DB5C-94800803A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Architecture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3FAA991-C625-E970-94EE-CABB250CC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5248275" cy="4351338"/>
          </a:xfrm>
        </p:spPr>
        <p:txBody>
          <a:bodyPr/>
          <a:lstStyle/>
          <a:p>
            <a:r>
              <a:rPr lang="cs-CZ" dirty="0" err="1"/>
              <a:t>Multiple</a:t>
            </a:r>
            <a:r>
              <a:rPr lang="cs-CZ" dirty="0"/>
              <a:t> </a:t>
            </a:r>
            <a:r>
              <a:rPr lang="cs-CZ" dirty="0" err="1"/>
              <a:t>individual</a:t>
            </a:r>
            <a:r>
              <a:rPr lang="cs-CZ" dirty="0"/>
              <a:t> </a:t>
            </a:r>
            <a:r>
              <a:rPr lang="cs-CZ" dirty="0" err="1"/>
              <a:t>segments</a:t>
            </a:r>
            <a:endParaRPr lang="cs-CZ" dirty="0"/>
          </a:p>
          <a:p>
            <a:pPr lvl="1"/>
            <a:r>
              <a:rPr lang="cs-CZ" dirty="0" err="1"/>
              <a:t>Photovoltaic</a:t>
            </a:r>
            <a:r>
              <a:rPr lang="cs-CZ" dirty="0"/>
              <a:t> input</a:t>
            </a:r>
          </a:p>
          <a:p>
            <a:pPr lvl="1"/>
            <a:r>
              <a:rPr lang="cs-CZ" dirty="0"/>
              <a:t>Output </a:t>
            </a:r>
            <a:r>
              <a:rPr lang="cs-CZ" dirty="0" err="1"/>
              <a:t>channels</a:t>
            </a:r>
            <a:endParaRPr lang="cs-CZ" dirty="0"/>
          </a:p>
          <a:p>
            <a:pPr lvl="1"/>
            <a:r>
              <a:rPr lang="cs-CZ" dirty="0" err="1"/>
              <a:t>Core</a:t>
            </a:r>
            <a:r>
              <a:rPr lang="cs-CZ" dirty="0"/>
              <a:t> module</a:t>
            </a:r>
          </a:p>
          <a:p>
            <a:pPr lvl="1"/>
            <a:r>
              <a:rPr lang="cs-CZ" dirty="0" err="1"/>
              <a:t>Battery</a:t>
            </a:r>
            <a:r>
              <a:rPr lang="cs-CZ" dirty="0"/>
              <a:t> </a:t>
            </a:r>
            <a:r>
              <a:rPr lang="cs-CZ" dirty="0" err="1"/>
              <a:t>packs</a:t>
            </a:r>
            <a:endParaRPr lang="cs-CZ" dirty="0"/>
          </a:p>
          <a:p>
            <a:r>
              <a:rPr lang="cs-CZ" dirty="0" err="1"/>
              <a:t>Centralized</a:t>
            </a:r>
            <a:r>
              <a:rPr lang="cs-CZ" dirty="0"/>
              <a:t> / </a:t>
            </a:r>
            <a:r>
              <a:rPr lang="cs-CZ" dirty="0" err="1"/>
              <a:t>Distributed</a:t>
            </a:r>
            <a:endParaRPr lang="cs-CZ" dirty="0"/>
          </a:p>
          <a:p>
            <a:r>
              <a:rPr lang="cs-CZ" dirty="0" err="1"/>
              <a:t>Unregulated</a:t>
            </a:r>
            <a:r>
              <a:rPr lang="cs-CZ" dirty="0"/>
              <a:t> bus</a:t>
            </a:r>
          </a:p>
          <a:p>
            <a:pPr lvl="1"/>
            <a:r>
              <a:rPr lang="cs-CZ" dirty="0"/>
              <a:t>Set to </a:t>
            </a:r>
            <a:r>
              <a:rPr lang="en-US" dirty="0"/>
              <a:t>~</a:t>
            </a:r>
            <a:r>
              <a:rPr lang="cs-CZ" dirty="0"/>
              <a:t>16 V</a:t>
            </a:r>
          </a:p>
          <a:p>
            <a:pPr lvl="1"/>
            <a:r>
              <a:rPr lang="cs-CZ" dirty="0"/>
              <a:t>4S </a:t>
            </a:r>
            <a:r>
              <a:rPr lang="cs-CZ" dirty="0" err="1"/>
              <a:t>batteries</a:t>
            </a:r>
            <a:r>
              <a:rPr lang="cs-CZ" dirty="0"/>
              <a:t> (max 16.8 V)</a:t>
            </a:r>
          </a:p>
        </p:txBody>
      </p:sp>
    </p:spTree>
    <p:extLst>
      <p:ext uri="{BB962C8B-B14F-4D97-AF65-F5344CB8AC3E}">
        <p14:creationId xmlns:p14="http://schemas.microsoft.com/office/powerpoint/2010/main" val="2596466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894DD0-06A7-665C-EBFA-1BBF42666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Photovoltaic</a:t>
            </a:r>
            <a:r>
              <a:rPr lang="cs-CZ" dirty="0"/>
              <a:t> input</a:t>
            </a:r>
          </a:p>
        </p:txBody>
      </p:sp>
      <p:sp>
        <p:nvSpPr>
          <p:cNvPr id="34" name="Zástupný obsah 33">
            <a:extLst>
              <a:ext uri="{FF2B5EF4-FFF2-40B4-BE49-F238E27FC236}">
                <a16:creationId xmlns:a16="http://schemas.microsoft.com/office/drawing/2014/main" id="{28933352-D567-5CDA-C275-9177FFE39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Includes</a:t>
            </a:r>
            <a:r>
              <a:rPr lang="cs-CZ" dirty="0"/>
              <a:t> 6 independent PV </a:t>
            </a:r>
            <a:r>
              <a:rPr lang="cs-CZ" dirty="0" err="1"/>
              <a:t>inputs</a:t>
            </a:r>
            <a:endParaRPr lang="cs-CZ" dirty="0"/>
          </a:p>
          <a:p>
            <a:r>
              <a:rPr lang="cs-CZ" dirty="0" err="1"/>
              <a:t>Each</a:t>
            </a:r>
            <a:endParaRPr lang="cs-CZ" dirty="0"/>
          </a:p>
          <a:p>
            <a:pPr lvl="1"/>
            <a:r>
              <a:rPr lang="cs-CZ" dirty="0" err="1"/>
              <a:t>Battery</a:t>
            </a:r>
            <a:r>
              <a:rPr lang="cs-CZ" dirty="0"/>
              <a:t> </a:t>
            </a:r>
            <a:r>
              <a:rPr lang="cs-CZ" dirty="0" err="1"/>
              <a:t>charger</a:t>
            </a:r>
            <a:endParaRPr lang="cs-CZ" dirty="0"/>
          </a:p>
          <a:p>
            <a:pPr lvl="1"/>
            <a:r>
              <a:rPr lang="cs-CZ" dirty="0" err="1"/>
              <a:t>Two</a:t>
            </a:r>
            <a:r>
              <a:rPr lang="cs-CZ" dirty="0"/>
              <a:t> e-</a:t>
            </a:r>
            <a:r>
              <a:rPr lang="cs-CZ" dirty="0" err="1"/>
              <a:t>fuse</a:t>
            </a:r>
            <a:r>
              <a:rPr lang="cs-CZ" dirty="0"/>
              <a:t> </a:t>
            </a:r>
            <a:r>
              <a:rPr lang="cs-CZ" dirty="0" err="1"/>
              <a:t>swiches</a:t>
            </a:r>
            <a:endParaRPr lang="cs-CZ" dirty="0"/>
          </a:p>
          <a:p>
            <a:pPr lvl="1"/>
            <a:r>
              <a:rPr lang="cs-CZ" dirty="0" err="1"/>
              <a:t>Current</a:t>
            </a:r>
            <a:r>
              <a:rPr lang="cs-CZ" dirty="0"/>
              <a:t> and </a:t>
            </a:r>
            <a:r>
              <a:rPr lang="cs-CZ" dirty="0" err="1"/>
              <a:t>voltage</a:t>
            </a:r>
            <a:r>
              <a:rPr lang="cs-CZ" dirty="0"/>
              <a:t> </a:t>
            </a:r>
            <a:r>
              <a:rPr lang="cs-CZ" dirty="0" err="1"/>
              <a:t>measuremnt</a:t>
            </a:r>
            <a:endParaRPr lang="cs-CZ" dirty="0"/>
          </a:p>
          <a:p>
            <a:r>
              <a:rPr lang="cs-CZ" dirty="0" err="1"/>
              <a:t>Fixed</a:t>
            </a:r>
            <a:r>
              <a:rPr lang="cs-CZ" dirty="0"/>
              <a:t> point</a:t>
            </a:r>
          </a:p>
          <a:p>
            <a:r>
              <a:rPr lang="cs-CZ" dirty="0"/>
              <a:t>MPPT</a:t>
            </a:r>
          </a:p>
          <a:p>
            <a:r>
              <a:rPr lang="cs-CZ" dirty="0"/>
              <a:t>17-27V input </a:t>
            </a:r>
            <a:r>
              <a:rPr lang="cs-CZ" dirty="0" err="1"/>
              <a:t>voltage</a:t>
            </a:r>
            <a:endParaRPr lang="cs-CZ" dirty="0"/>
          </a:p>
        </p:txBody>
      </p:sp>
      <p:pic>
        <p:nvPicPr>
          <p:cNvPr id="35" name="Zástupný obsah 23">
            <a:extLst>
              <a:ext uri="{FF2B5EF4-FFF2-40B4-BE49-F238E27FC236}">
                <a16:creationId xmlns:a16="http://schemas.microsoft.com/office/drawing/2014/main" id="{25A7C723-6ABA-3161-AF01-0FA6030C46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943" y="1294781"/>
            <a:ext cx="9229731" cy="5563217"/>
          </a:xfrm>
          <a:prstGeom prst="rect">
            <a:avLst/>
          </a:prstGeom>
        </p:spPr>
      </p:pic>
      <p:pic>
        <p:nvPicPr>
          <p:cNvPr id="36" name="Obrázek 35">
            <a:extLst>
              <a:ext uri="{FF2B5EF4-FFF2-40B4-BE49-F238E27FC236}">
                <a16:creationId xmlns:a16="http://schemas.microsoft.com/office/drawing/2014/main" id="{1E4FF796-F54B-73A4-720D-0B3B364AF6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960" y="1294781"/>
            <a:ext cx="9229735" cy="5563219"/>
          </a:xfrm>
          <a:prstGeom prst="rect">
            <a:avLst/>
          </a:prstGeom>
        </p:spPr>
      </p:pic>
      <p:pic>
        <p:nvPicPr>
          <p:cNvPr id="37" name="Obrázek 36">
            <a:extLst>
              <a:ext uri="{FF2B5EF4-FFF2-40B4-BE49-F238E27FC236}">
                <a16:creationId xmlns:a16="http://schemas.microsoft.com/office/drawing/2014/main" id="{34A515FF-602B-CF53-A395-8B8C42FBE7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963" y="1294781"/>
            <a:ext cx="9229732" cy="5563217"/>
          </a:xfrm>
          <a:prstGeom prst="rect">
            <a:avLst/>
          </a:prstGeom>
        </p:spPr>
      </p:pic>
      <p:pic>
        <p:nvPicPr>
          <p:cNvPr id="38" name="Obrázek 37">
            <a:extLst>
              <a:ext uri="{FF2B5EF4-FFF2-40B4-BE49-F238E27FC236}">
                <a16:creationId xmlns:a16="http://schemas.microsoft.com/office/drawing/2014/main" id="{555E9FAB-AFE7-B46F-AFCB-5CF413168A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180" y="1219688"/>
            <a:ext cx="9229724" cy="5563212"/>
          </a:xfrm>
          <a:prstGeom prst="rect">
            <a:avLst/>
          </a:prstGeom>
        </p:spPr>
      </p:pic>
      <p:pic>
        <p:nvPicPr>
          <p:cNvPr id="39" name="Obrázek 38">
            <a:extLst>
              <a:ext uri="{FF2B5EF4-FFF2-40B4-BE49-F238E27FC236}">
                <a16:creationId xmlns:a16="http://schemas.microsoft.com/office/drawing/2014/main" id="{C4DE8FBC-E312-28F2-5871-ECE4CA8B85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7100" y="-548640"/>
            <a:ext cx="9229725" cy="556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074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6337229-3EA7-0BC2-6752-799B17C2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Output </a:t>
            </a:r>
            <a:r>
              <a:rPr lang="cs-CZ" dirty="0" err="1"/>
              <a:t>channels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F08E38E-9479-7A48-F637-D8C56AA7A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Two</a:t>
            </a:r>
            <a:r>
              <a:rPr lang="cs-CZ" dirty="0"/>
              <a:t> </a:t>
            </a:r>
            <a:r>
              <a:rPr lang="cs-CZ" dirty="0" err="1"/>
              <a:t>identical</a:t>
            </a:r>
            <a:r>
              <a:rPr lang="cs-CZ" dirty="0"/>
              <a:t> </a:t>
            </a:r>
            <a:r>
              <a:rPr lang="cs-CZ" dirty="0" err="1"/>
              <a:t>PCBs</a:t>
            </a:r>
            <a:endParaRPr lang="cs-CZ" dirty="0"/>
          </a:p>
          <a:p>
            <a:r>
              <a:rPr lang="cs-CZ" dirty="0" err="1"/>
              <a:t>Each</a:t>
            </a:r>
            <a:r>
              <a:rPr lang="cs-CZ" dirty="0"/>
              <a:t> PCB</a:t>
            </a:r>
          </a:p>
          <a:p>
            <a:pPr lvl="1"/>
            <a:r>
              <a:rPr lang="cs-CZ" dirty="0"/>
              <a:t>3 </a:t>
            </a:r>
            <a:r>
              <a:rPr lang="cs-CZ" dirty="0" err="1"/>
              <a:t>Cold</a:t>
            </a:r>
            <a:r>
              <a:rPr lang="cs-CZ" dirty="0"/>
              <a:t> </a:t>
            </a:r>
            <a:r>
              <a:rPr lang="cs-CZ" dirty="0" err="1"/>
              <a:t>channels</a:t>
            </a:r>
            <a:r>
              <a:rPr lang="cs-CZ" dirty="0"/>
              <a:t> (6 </a:t>
            </a:r>
            <a:r>
              <a:rPr lang="cs-CZ" dirty="0" err="1"/>
              <a:t>total</a:t>
            </a:r>
            <a:r>
              <a:rPr lang="cs-CZ" dirty="0"/>
              <a:t>)</a:t>
            </a:r>
          </a:p>
          <a:p>
            <a:pPr lvl="1"/>
            <a:r>
              <a:rPr lang="cs-CZ" dirty="0"/>
              <a:t>1 Hot </a:t>
            </a:r>
            <a:r>
              <a:rPr lang="cs-CZ" dirty="0" err="1"/>
              <a:t>channel</a:t>
            </a:r>
            <a:r>
              <a:rPr lang="cs-CZ" dirty="0"/>
              <a:t> (2 </a:t>
            </a:r>
            <a:r>
              <a:rPr lang="cs-CZ" dirty="0" err="1"/>
              <a:t>total</a:t>
            </a:r>
            <a:r>
              <a:rPr lang="cs-CZ" dirty="0"/>
              <a:t>)</a:t>
            </a:r>
          </a:p>
          <a:p>
            <a:r>
              <a:rPr lang="cs-CZ" dirty="0" err="1"/>
              <a:t>Each</a:t>
            </a:r>
            <a:r>
              <a:rPr lang="cs-CZ" dirty="0"/>
              <a:t> </a:t>
            </a:r>
            <a:r>
              <a:rPr lang="cs-CZ" dirty="0" err="1"/>
              <a:t>channel</a:t>
            </a:r>
            <a:endParaRPr lang="cs-CZ" dirty="0"/>
          </a:p>
          <a:p>
            <a:pPr lvl="1"/>
            <a:r>
              <a:rPr lang="cs-CZ" dirty="0" err="1"/>
              <a:t>Two</a:t>
            </a:r>
            <a:r>
              <a:rPr lang="cs-CZ" dirty="0"/>
              <a:t> DC/DC </a:t>
            </a:r>
            <a:r>
              <a:rPr lang="cs-CZ" dirty="0" err="1"/>
              <a:t>converters</a:t>
            </a:r>
            <a:endParaRPr lang="cs-CZ" dirty="0"/>
          </a:p>
          <a:p>
            <a:pPr lvl="1"/>
            <a:r>
              <a:rPr lang="cs-CZ" dirty="0" err="1"/>
              <a:t>Adjustable</a:t>
            </a:r>
            <a:r>
              <a:rPr lang="cs-CZ" dirty="0"/>
              <a:t> output </a:t>
            </a:r>
            <a:r>
              <a:rPr lang="cs-CZ" dirty="0" err="1"/>
              <a:t>voltage</a:t>
            </a:r>
            <a:endParaRPr lang="cs-CZ" dirty="0"/>
          </a:p>
          <a:p>
            <a:pPr lvl="1"/>
            <a:r>
              <a:rPr lang="cs-CZ" dirty="0" err="1"/>
              <a:t>Two</a:t>
            </a:r>
            <a:r>
              <a:rPr lang="cs-CZ" dirty="0"/>
              <a:t> e-</a:t>
            </a:r>
            <a:r>
              <a:rPr lang="cs-CZ" dirty="0" err="1"/>
              <a:t>fuse</a:t>
            </a:r>
            <a:r>
              <a:rPr lang="cs-CZ" dirty="0"/>
              <a:t> </a:t>
            </a:r>
            <a:r>
              <a:rPr lang="cs-CZ" dirty="0" err="1"/>
              <a:t>swiches</a:t>
            </a:r>
            <a:endParaRPr lang="cs-CZ" dirty="0"/>
          </a:p>
          <a:p>
            <a:pPr lvl="1"/>
            <a:r>
              <a:rPr lang="cs-CZ" dirty="0" err="1"/>
              <a:t>Current</a:t>
            </a:r>
            <a:r>
              <a:rPr lang="cs-CZ" dirty="0"/>
              <a:t> and </a:t>
            </a:r>
            <a:r>
              <a:rPr lang="cs-CZ" dirty="0" err="1"/>
              <a:t>voltage</a:t>
            </a:r>
            <a:r>
              <a:rPr lang="cs-CZ" dirty="0"/>
              <a:t> </a:t>
            </a:r>
            <a:r>
              <a:rPr lang="cs-CZ" dirty="0" err="1"/>
              <a:t>measurement</a:t>
            </a:r>
            <a:endParaRPr lang="cs-CZ" dirty="0"/>
          </a:p>
          <a:p>
            <a:endParaRPr lang="cs-CZ" dirty="0"/>
          </a:p>
        </p:txBody>
      </p:sp>
      <p:pic>
        <p:nvPicPr>
          <p:cNvPr id="12" name="Zástupný obsah 23">
            <a:extLst>
              <a:ext uri="{FF2B5EF4-FFF2-40B4-BE49-F238E27FC236}">
                <a16:creationId xmlns:a16="http://schemas.microsoft.com/office/drawing/2014/main" id="{3BA1F168-65E3-6A72-4042-34AB3B999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794" y="1294781"/>
            <a:ext cx="9229731" cy="5563217"/>
          </a:xfrm>
          <a:prstGeom prst="rect">
            <a:avLst/>
          </a:prstGeom>
        </p:spPr>
      </p:pic>
      <p:pic>
        <p:nvPicPr>
          <p:cNvPr id="13" name="Obrázek 12">
            <a:extLst>
              <a:ext uri="{FF2B5EF4-FFF2-40B4-BE49-F238E27FC236}">
                <a16:creationId xmlns:a16="http://schemas.microsoft.com/office/drawing/2014/main" id="{FD477249-2179-E65C-3D9B-AFDEE4EEBB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11" y="1294781"/>
            <a:ext cx="9229735" cy="5563219"/>
          </a:xfrm>
          <a:prstGeom prst="rect">
            <a:avLst/>
          </a:prstGeom>
        </p:spPr>
      </p:pic>
      <p:pic>
        <p:nvPicPr>
          <p:cNvPr id="14" name="Obrázek 13">
            <a:extLst>
              <a:ext uri="{FF2B5EF4-FFF2-40B4-BE49-F238E27FC236}">
                <a16:creationId xmlns:a16="http://schemas.microsoft.com/office/drawing/2014/main" id="{22D76656-B2D3-03FA-224E-613E362AC2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471" y="1294783"/>
            <a:ext cx="9229732" cy="5563217"/>
          </a:xfrm>
          <a:prstGeom prst="rect">
            <a:avLst/>
          </a:prstGeom>
        </p:spPr>
      </p:pic>
      <p:pic>
        <p:nvPicPr>
          <p:cNvPr id="15" name="Obrázek 14">
            <a:extLst>
              <a:ext uri="{FF2B5EF4-FFF2-40B4-BE49-F238E27FC236}">
                <a16:creationId xmlns:a16="http://schemas.microsoft.com/office/drawing/2014/main" id="{45EA3BA9-3092-7264-8491-CF714978B8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-548647"/>
            <a:ext cx="9229724" cy="5563212"/>
          </a:xfrm>
          <a:prstGeom prst="rect">
            <a:avLst/>
          </a:prstGeom>
        </p:spPr>
      </p:pic>
      <p:pic>
        <p:nvPicPr>
          <p:cNvPr id="16" name="Obrázek 15">
            <a:extLst>
              <a:ext uri="{FF2B5EF4-FFF2-40B4-BE49-F238E27FC236}">
                <a16:creationId xmlns:a16="http://schemas.microsoft.com/office/drawing/2014/main" id="{AB57BFEC-6766-2DC2-272B-0444D268E5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-548647"/>
            <a:ext cx="9229725" cy="556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88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1A8365F-13BA-405D-E346-4D8419F61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Core</a:t>
            </a:r>
            <a:r>
              <a:rPr lang="cs-CZ" dirty="0"/>
              <a:t> module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DE0A454-F390-7E31-9C8A-D4E47038C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Includes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MCU</a:t>
            </a:r>
          </a:p>
          <a:p>
            <a:pPr lvl="1"/>
            <a:r>
              <a:rPr lang="cs-CZ" dirty="0" err="1"/>
              <a:t>Two</a:t>
            </a:r>
            <a:r>
              <a:rPr lang="cs-CZ" dirty="0"/>
              <a:t> MSP430 </a:t>
            </a:r>
            <a:r>
              <a:rPr lang="cs-CZ" dirty="0" err="1"/>
              <a:t>microcontrolers</a:t>
            </a:r>
            <a:endParaRPr lang="cs-CZ" dirty="0"/>
          </a:p>
          <a:p>
            <a:pPr lvl="1"/>
            <a:r>
              <a:rPr lang="cs-CZ" dirty="0" err="1"/>
              <a:t>Two</a:t>
            </a:r>
            <a:r>
              <a:rPr lang="cs-CZ" dirty="0"/>
              <a:t> </a:t>
            </a:r>
            <a:r>
              <a:rPr lang="cs-CZ" dirty="0" err="1"/>
              <a:t>multiplexers</a:t>
            </a:r>
            <a:endParaRPr lang="cs-CZ" dirty="0"/>
          </a:p>
          <a:p>
            <a:pPr lvl="1"/>
            <a:r>
              <a:rPr lang="cs-CZ" dirty="0"/>
              <a:t>CAN and RS422/485 </a:t>
            </a:r>
            <a:r>
              <a:rPr lang="cs-CZ" dirty="0" err="1"/>
              <a:t>tranceivers</a:t>
            </a:r>
            <a:endParaRPr lang="cs-CZ" dirty="0"/>
          </a:p>
          <a:p>
            <a:pPr lvl="1"/>
            <a:r>
              <a:rPr lang="cs-CZ" dirty="0"/>
              <a:t>SPI, UART, I2C</a:t>
            </a:r>
          </a:p>
          <a:p>
            <a:r>
              <a:rPr lang="cs-CZ" dirty="0" err="1"/>
              <a:t>Two</a:t>
            </a:r>
            <a:r>
              <a:rPr lang="cs-CZ" dirty="0"/>
              <a:t> BUS output </a:t>
            </a:r>
            <a:r>
              <a:rPr lang="cs-CZ" dirty="0" err="1"/>
              <a:t>channels</a:t>
            </a:r>
            <a:endParaRPr lang="cs-CZ" dirty="0"/>
          </a:p>
          <a:p>
            <a:pPr lvl="1"/>
            <a:r>
              <a:rPr lang="cs-CZ" dirty="0"/>
              <a:t>2 e-</a:t>
            </a:r>
            <a:r>
              <a:rPr lang="cs-CZ" dirty="0" err="1"/>
              <a:t>fuse</a:t>
            </a:r>
            <a:r>
              <a:rPr lang="cs-CZ" dirty="0"/>
              <a:t> </a:t>
            </a:r>
            <a:r>
              <a:rPr lang="cs-CZ" dirty="0" err="1"/>
              <a:t>swiches</a:t>
            </a:r>
            <a:r>
              <a:rPr lang="cs-CZ" dirty="0"/>
              <a:t> </a:t>
            </a:r>
            <a:r>
              <a:rPr lang="cs-CZ" dirty="0" err="1"/>
              <a:t>each</a:t>
            </a:r>
            <a:endParaRPr lang="cs-CZ" dirty="0"/>
          </a:p>
          <a:p>
            <a:pPr lvl="1"/>
            <a:r>
              <a:rPr lang="cs-CZ" dirty="0" err="1"/>
              <a:t>Current</a:t>
            </a:r>
            <a:r>
              <a:rPr lang="cs-CZ" dirty="0"/>
              <a:t> </a:t>
            </a:r>
            <a:r>
              <a:rPr lang="cs-CZ" dirty="0" err="1"/>
              <a:t>measurement</a:t>
            </a:r>
            <a:endParaRPr lang="cs-CZ" dirty="0"/>
          </a:p>
          <a:p>
            <a:r>
              <a:rPr lang="cs-CZ" dirty="0" err="1"/>
              <a:t>Main</a:t>
            </a:r>
            <a:r>
              <a:rPr lang="cs-CZ" dirty="0"/>
              <a:t> e-</a:t>
            </a:r>
            <a:r>
              <a:rPr lang="cs-CZ" dirty="0" err="1"/>
              <a:t>fuse</a:t>
            </a:r>
            <a:r>
              <a:rPr lang="cs-CZ" dirty="0"/>
              <a:t> </a:t>
            </a:r>
            <a:r>
              <a:rPr lang="cs-CZ" dirty="0" err="1"/>
              <a:t>kill</a:t>
            </a:r>
            <a:r>
              <a:rPr lang="cs-CZ" dirty="0"/>
              <a:t> / </a:t>
            </a:r>
            <a:r>
              <a:rPr lang="cs-CZ" dirty="0" err="1"/>
              <a:t>deploy</a:t>
            </a:r>
            <a:r>
              <a:rPr lang="cs-CZ" dirty="0"/>
              <a:t> switch</a:t>
            </a:r>
          </a:p>
        </p:txBody>
      </p:sp>
      <p:pic>
        <p:nvPicPr>
          <p:cNvPr id="5" name="Zástupný obsah 23">
            <a:extLst>
              <a:ext uri="{FF2B5EF4-FFF2-40B4-BE49-F238E27FC236}">
                <a16:creationId xmlns:a16="http://schemas.microsoft.com/office/drawing/2014/main" id="{29B95F34-1782-9005-6D7A-F0F63F885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46" y="1294783"/>
            <a:ext cx="9229731" cy="5563217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8F06177A-D486-F261-74E9-983C3B6872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2162" y="1570560"/>
            <a:ext cx="9229735" cy="5563219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CDF0686E-6BBC-89EF-37DB-11D382D289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48" y="-548640"/>
            <a:ext cx="9229732" cy="5563217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B338990C-5EF1-A3D9-104A-E6CF98D4EC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53" y="-548640"/>
            <a:ext cx="9229724" cy="5563212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F1C9F6D8-6EE6-FC6E-C962-2DDE5AE35A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52" y="-548640"/>
            <a:ext cx="9229725" cy="556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4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DF2B489-3CC3-951C-F1E8-716B625AA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Power</a:t>
            </a:r>
            <a:r>
              <a:rPr lang="cs-CZ" dirty="0"/>
              <a:t> </a:t>
            </a:r>
            <a:r>
              <a:rPr lang="cs-CZ" dirty="0" err="1"/>
              <a:t>storage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FB24948-641E-9950-AA14-4F840E662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Two</a:t>
            </a:r>
            <a:r>
              <a:rPr lang="cs-CZ" dirty="0"/>
              <a:t> </a:t>
            </a:r>
            <a:r>
              <a:rPr lang="cs-CZ" dirty="0" err="1"/>
              <a:t>separate</a:t>
            </a:r>
            <a:r>
              <a:rPr lang="cs-CZ" dirty="0"/>
              <a:t> </a:t>
            </a:r>
            <a:r>
              <a:rPr lang="cs-CZ" dirty="0" err="1"/>
              <a:t>battery</a:t>
            </a:r>
            <a:r>
              <a:rPr lang="cs-CZ" dirty="0"/>
              <a:t> </a:t>
            </a:r>
            <a:r>
              <a:rPr lang="cs-CZ" dirty="0" err="1"/>
              <a:t>packs</a:t>
            </a:r>
            <a:r>
              <a:rPr lang="cs-CZ" dirty="0"/>
              <a:t> </a:t>
            </a:r>
            <a:r>
              <a:rPr lang="cs-CZ" dirty="0" err="1"/>
              <a:t>supported</a:t>
            </a:r>
            <a:endParaRPr lang="cs-CZ" dirty="0"/>
          </a:p>
          <a:p>
            <a:r>
              <a:rPr lang="cs-CZ" dirty="0" err="1"/>
              <a:t>Each</a:t>
            </a:r>
            <a:endParaRPr lang="cs-CZ" dirty="0"/>
          </a:p>
          <a:p>
            <a:pPr lvl="1"/>
            <a:r>
              <a:rPr lang="cs-CZ" dirty="0"/>
              <a:t>4S 18650 </a:t>
            </a:r>
            <a:r>
              <a:rPr lang="cs-CZ" dirty="0" err="1"/>
              <a:t>li</a:t>
            </a:r>
            <a:r>
              <a:rPr lang="cs-CZ" dirty="0"/>
              <a:t>-ion </a:t>
            </a:r>
            <a:r>
              <a:rPr lang="cs-CZ" dirty="0" err="1"/>
              <a:t>batteries</a:t>
            </a:r>
            <a:endParaRPr lang="cs-CZ" dirty="0"/>
          </a:p>
          <a:p>
            <a:pPr lvl="1"/>
            <a:r>
              <a:rPr lang="cs-CZ" dirty="0"/>
              <a:t>BMS </a:t>
            </a:r>
            <a:r>
              <a:rPr lang="cs-CZ" dirty="0" err="1"/>
              <a:t>Circuit</a:t>
            </a:r>
            <a:r>
              <a:rPr lang="cs-CZ" dirty="0"/>
              <a:t> </a:t>
            </a:r>
            <a:r>
              <a:rPr lang="cs-CZ" dirty="0" err="1"/>
              <a:t>with</a:t>
            </a:r>
            <a:r>
              <a:rPr lang="cs-CZ" dirty="0"/>
              <a:t> i2C</a:t>
            </a:r>
          </a:p>
          <a:p>
            <a:pPr lvl="1"/>
            <a:r>
              <a:rPr lang="cs-CZ" dirty="0" err="1"/>
              <a:t>Temperature</a:t>
            </a:r>
            <a:r>
              <a:rPr lang="cs-CZ" dirty="0"/>
              <a:t> </a:t>
            </a:r>
            <a:r>
              <a:rPr lang="cs-CZ" dirty="0" err="1"/>
              <a:t>measurement</a:t>
            </a:r>
            <a:endParaRPr lang="cs-CZ" dirty="0"/>
          </a:p>
          <a:p>
            <a:pPr lvl="1"/>
            <a:r>
              <a:rPr lang="cs-CZ" dirty="0" err="1"/>
              <a:t>Battery</a:t>
            </a:r>
            <a:r>
              <a:rPr lang="cs-CZ" dirty="0"/>
              <a:t> </a:t>
            </a:r>
            <a:r>
              <a:rPr lang="cs-CZ" dirty="0" err="1"/>
              <a:t>heater</a:t>
            </a:r>
            <a:endParaRPr lang="cs-CZ" dirty="0"/>
          </a:p>
        </p:txBody>
      </p:sp>
      <p:pic>
        <p:nvPicPr>
          <p:cNvPr id="5" name="Zástupný obsah 23">
            <a:extLst>
              <a:ext uri="{FF2B5EF4-FFF2-40B4-BE49-F238E27FC236}">
                <a16:creationId xmlns:a16="http://schemas.microsoft.com/office/drawing/2014/main" id="{1059FCC0-22B2-2A57-358C-11E99A3BE8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1943" y="1294783"/>
            <a:ext cx="9229731" cy="5563217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2FD58C6F-844C-3781-095D-D056BE9A5E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4" y="-548640"/>
            <a:ext cx="9229735" cy="5563219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D35016F2-C486-0C82-F530-5C159885D0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-548640"/>
            <a:ext cx="9229732" cy="5563217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D86E253B-7040-FF07-88E9-93C2CF0C17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7" y="-548640"/>
            <a:ext cx="9229724" cy="5563212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53A0D94B-1BE0-D097-5D94-D7D3D27254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6" y="-548640"/>
            <a:ext cx="9229725" cy="556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058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A4FBB2-6FCD-47EF-40B5-ECFFA6CCF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Conclusion</a:t>
            </a:r>
            <a:r>
              <a:rPr lang="cs-CZ" dirty="0"/>
              <a:t> and </a:t>
            </a:r>
            <a:r>
              <a:rPr lang="cs-CZ" dirty="0" err="1"/>
              <a:t>future</a:t>
            </a:r>
            <a:r>
              <a:rPr lang="cs-CZ" dirty="0"/>
              <a:t> </a:t>
            </a:r>
            <a:r>
              <a:rPr lang="cs-CZ" dirty="0" err="1"/>
              <a:t>steps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14073F8-3E46-B603-0028-EEBE756ED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Test PCB </a:t>
            </a:r>
            <a:r>
              <a:rPr lang="cs-CZ" dirty="0" err="1"/>
              <a:t>manufactured</a:t>
            </a:r>
            <a:endParaRPr lang="cs-CZ" dirty="0"/>
          </a:p>
          <a:p>
            <a:pPr lvl="1"/>
            <a:r>
              <a:rPr lang="cs-CZ" dirty="0" err="1"/>
              <a:t>Simulating</a:t>
            </a:r>
            <a:r>
              <a:rPr lang="cs-CZ" dirty="0"/>
              <a:t> EPS </a:t>
            </a:r>
            <a:r>
              <a:rPr lang="cs-CZ" dirty="0" err="1"/>
              <a:t>architecture</a:t>
            </a:r>
            <a:endParaRPr lang="cs-CZ" dirty="0"/>
          </a:p>
          <a:p>
            <a:pPr lvl="1"/>
            <a:r>
              <a:rPr lang="cs-CZ" dirty="0" err="1"/>
              <a:t>Individual</a:t>
            </a:r>
            <a:r>
              <a:rPr lang="cs-CZ" dirty="0"/>
              <a:t> </a:t>
            </a:r>
            <a:r>
              <a:rPr lang="cs-CZ" dirty="0" err="1"/>
              <a:t>parts</a:t>
            </a:r>
            <a:r>
              <a:rPr lang="cs-CZ" dirty="0"/>
              <a:t> </a:t>
            </a:r>
            <a:r>
              <a:rPr lang="cs-CZ" dirty="0" err="1"/>
              <a:t>verified</a:t>
            </a:r>
            <a:endParaRPr lang="cs-CZ" dirty="0"/>
          </a:p>
          <a:p>
            <a:endParaRPr lang="cs-CZ" dirty="0"/>
          </a:p>
          <a:p>
            <a:r>
              <a:rPr lang="cs-CZ" dirty="0" err="1"/>
              <a:t>Next</a:t>
            </a:r>
            <a:r>
              <a:rPr lang="cs-CZ" dirty="0"/>
              <a:t> </a:t>
            </a:r>
            <a:r>
              <a:rPr lang="cs-CZ" dirty="0" err="1"/>
              <a:t>steps</a:t>
            </a:r>
            <a:endParaRPr lang="cs-CZ" dirty="0"/>
          </a:p>
          <a:p>
            <a:pPr lvl="1"/>
            <a:r>
              <a:rPr lang="cs-CZ" dirty="0" err="1"/>
              <a:t>Perform</a:t>
            </a:r>
            <a:r>
              <a:rPr lang="cs-CZ" dirty="0"/>
              <a:t> </a:t>
            </a:r>
            <a:r>
              <a:rPr lang="cs-CZ" dirty="0" err="1"/>
              <a:t>radiation</a:t>
            </a:r>
            <a:r>
              <a:rPr lang="cs-CZ" dirty="0"/>
              <a:t> </a:t>
            </a:r>
            <a:r>
              <a:rPr lang="cs-CZ" dirty="0" err="1"/>
              <a:t>tests</a:t>
            </a:r>
            <a:r>
              <a:rPr lang="cs-CZ" dirty="0"/>
              <a:t> on </a:t>
            </a:r>
            <a:r>
              <a:rPr lang="cs-CZ" dirty="0" err="1"/>
              <a:t>the</a:t>
            </a:r>
            <a:r>
              <a:rPr lang="cs-CZ" dirty="0"/>
              <a:t> hardware</a:t>
            </a:r>
          </a:p>
          <a:p>
            <a:pPr lvl="1"/>
            <a:r>
              <a:rPr lang="cs-CZ" dirty="0" err="1"/>
              <a:t>Pinpoint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weak</a:t>
            </a:r>
            <a:r>
              <a:rPr lang="cs-CZ" dirty="0"/>
              <a:t> link</a:t>
            </a:r>
          </a:p>
          <a:p>
            <a:pPr lvl="1"/>
            <a:r>
              <a:rPr lang="cs-CZ" dirty="0" err="1"/>
              <a:t>Iterate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design</a:t>
            </a:r>
          </a:p>
          <a:p>
            <a:endParaRPr lang="cs-CZ" dirty="0"/>
          </a:p>
        </p:txBody>
      </p:sp>
      <p:pic>
        <p:nvPicPr>
          <p:cNvPr id="4" name="Zástupný obsah 23">
            <a:extLst>
              <a:ext uri="{FF2B5EF4-FFF2-40B4-BE49-F238E27FC236}">
                <a16:creationId xmlns:a16="http://schemas.microsoft.com/office/drawing/2014/main" id="{4154EF93-4276-047D-45BE-0A66BA428E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73" y="1294788"/>
            <a:ext cx="9229731" cy="5563217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0663239A-1743-7086-C6EE-4E5BA71937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0" y="1294788"/>
            <a:ext cx="9229735" cy="5563219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BDFD6199-89B0-D728-1FAA-3423EF07F9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3" y="1294788"/>
            <a:ext cx="9229732" cy="5563217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7D8C9796-FBB4-0523-EDEE-C49EB4EA2B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87" y="1294788"/>
            <a:ext cx="9229724" cy="5563212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606969F4-DD10-8424-4975-C2F408AF63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52" y="1294783"/>
            <a:ext cx="9229725" cy="556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998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501C32-ABEA-0EF6-4383-04A400E50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9950"/>
          </a:xfrm>
        </p:spPr>
        <p:txBody>
          <a:bodyPr/>
          <a:lstStyle/>
          <a:p>
            <a:pPr algn="ctr"/>
            <a:r>
              <a:rPr lang="cs-CZ" dirty="0" err="1"/>
              <a:t>Thank</a:t>
            </a:r>
            <a:r>
              <a:rPr lang="cs-CZ" dirty="0"/>
              <a:t> </a:t>
            </a: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for</a:t>
            </a:r>
            <a:r>
              <a:rPr lang="cs-CZ" dirty="0"/>
              <a:t> </a:t>
            </a:r>
            <a:r>
              <a:rPr lang="cs-CZ" dirty="0" err="1"/>
              <a:t>your</a:t>
            </a:r>
            <a:r>
              <a:rPr lang="cs-CZ" dirty="0"/>
              <a:t> </a:t>
            </a:r>
            <a:r>
              <a:rPr lang="cs-CZ" dirty="0" err="1"/>
              <a:t>attention</a:t>
            </a:r>
            <a:r>
              <a:rPr lang="cs-CZ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54432324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</TotalTime>
  <Words>935</Words>
  <Application>Microsoft Office PowerPoint</Application>
  <PresentationFormat>Širokoúhlá obrazovka</PresentationFormat>
  <Paragraphs>169</Paragraphs>
  <Slides>11</Slides>
  <Notes>10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Motiv Office</vt:lpstr>
      <vt:lpstr>Design of a power supply unit for a CubeSat satellite</vt:lpstr>
      <vt:lpstr>Content</vt:lpstr>
      <vt:lpstr>Introduction</vt:lpstr>
      <vt:lpstr>Design considerations</vt:lpstr>
      <vt:lpstr>Architecture</vt:lpstr>
      <vt:lpstr>Photovoltaic input</vt:lpstr>
      <vt:lpstr>Output channels</vt:lpstr>
      <vt:lpstr>Core module</vt:lpstr>
      <vt:lpstr>Power storage</vt:lpstr>
      <vt:lpstr>Conclusion and future steps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Dočkal Tomáš (230240)</dc:creator>
  <cp:lastModifiedBy>Dočkal Tomáš (230240)</cp:lastModifiedBy>
  <cp:revision>28</cp:revision>
  <dcterms:created xsi:type="dcterms:W3CDTF">2026-04-25T21:00:31Z</dcterms:created>
  <dcterms:modified xsi:type="dcterms:W3CDTF">2026-04-27T23:32:35Z</dcterms:modified>
</cp:coreProperties>
</file>